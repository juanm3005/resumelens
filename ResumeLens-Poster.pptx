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5201563" cy="35999738"/>
  <p:notesSz cx="35999738" cy="252015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82" y="-4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Camilo Pelaez Marulanda" userId="7d442a37-c31f-4ca8-8cc2-418a4c257f32" providerId="ADAL" clId="{5F2BF41E-46F4-4593-9CB0-59FB2780145A}"/>
    <pc:docChg chg="modSld">
      <pc:chgData name="Juan Camilo Pelaez Marulanda" userId="7d442a37-c31f-4ca8-8cc2-418a4c257f32" providerId="ADAL" clId="{5F2BF41E-46F4-4593-9CB0-59FB2780145A}" dt="2026-10-13T01:27:37.981" v="0" actId="20577"/>
      <pc:docMkLst>
        <pc:docMk/>
      </pc:docMkLst>
      <pc:sldChg chg="modSp mod">
        <pc:chgData name="Juan Camilo Pelaez Marulanda" userId="7d442a37-c31f-4ca8-8cc2-418a4c257f32" providerId="ADAL" clId="{5F2BF41E-46F4-4593-9CB0-59FB2780145A}" dt="2026-10-13T01:27:37.981" v="0" actId="20577"/>
        <pc:sldMkLst>
          <pc:docMk/>
          <pc:sldMk cId="0" sldId="256"/>
        </pc:sldMkLst>
        <pc:spChg chg="mod">
          <ac:chgData name="Juan Camilo Pelaez Marulanda" userId="7d442a37-c31f-4ca8-8cc2-418a4c257f32" providerId="ADAL" clId="{5F2BF41E-46F4-4593-9CB0-59FB2780145A}" dt="2026-10-13T01:27:37.981" v="0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71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checklist (CWU Libraries guide + assignment):
- Poster must be in English.
- The pipeline band is the 5-second message: keep it.
- One representative diagram per formal model; full 7-tuples / 5-tuples go in docs/.
- Sizes: title 80 pt, names 48 pt, headings 60 pt, body 32 pt; nothing below 24 pt.
- Every figure/table numbered and titled; cite figures that are not yours.
- Define acronyms on first use (FST, DSL, EBNF, DFA/NFA).
- Delete the dashed boxes when inserting your diagrams and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Juanm3005/ResumeLens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914400"/>
            <a:ext cx="1719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ResumeLens: Formal Language-Based Résumé Screening</a:t>
            </a:r>
            <a:endParaRPr lang="en-US" sz="8000" dirty="0"/>
          </a:p>
        </p:txBody>
      </p:sp>
      <p:sp>
        <p:nvSpPr>
          <p:cNvPr id="3" name="Authors"/>
          <p:cNvSpPr txBox="1"/>
          <p:nvPr/>
        </p:nvSpPr>
        <p:spPr>
          <a:xfrm>
            <a:off x="914400" y="3520440"/>
            <a:ext cx="1719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Pelaez, Victoria Restrepo, Santiago Gomez</a:t>
            </a:r>
            <a:endParaRPr lang="en-US" sz="4800" dirty="0"/>
          </a:p>
        </p:txBody>
      </p:sp>
      <p:sp>
        <p:nvSpPr>
          <p:cNvPr id="4" name="Affiliations"/>
          <p:cNvSpPr txBox="1"/>
          <p:nvPr/>
        </p:nvSpPr>
        <p:spPr>
          <a:xfrm>
            <a:off x="914400" y="4480560"/>
            <a:ext cx="1719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 err="1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Computación</a:t>
            </a:r>
            <a:r>
              <a:rPr lang="en-US" sz="28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Estructuras Discretas III, Group 3 · Andres Alberto Aristizabal Pinzon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 de Computación y Sistemas Inteligentes, Universidad Icesi, Cali, Colombia</a:t>
            </a:r>
            <a:endParaRPr lang="en-US" sz="2800" dirty="0"/>
          </a:p>
        </p:txBody>
      </p:sp>
      <p:pic>
        <p:nvPicPr>
          <p:cNvPr id="5" name="Icesi logo" descr="Universidad Icesi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20" y="1280160"/>
            <a:ext cx="5724144" cy="2126303"/>
          </a:xfrm>
          <a:prstGeom prst="rect">
            <a:avLst/>
          </a:prstGeom>
        </p:spPr>
      </p:pic>
      <p:sp>
        <p:nvSpPr>
          <p:cNvPr id="6" name="Pipeline band"/>
          <p:cNvSpPr/>
          <p:nvPr/>
        </p:nvSpPr>
        <p:spPr>
          <a:xfrm>
            <a:off x="914400" y="6172200"/>
            <a:ext cx="23372064" cy="4160520"/>
          </a:xfrm>
          <a:prstGeom prst="roundRect">
            <a:avLst>
              <a:gd name="adj" fmla="val 6593"/>
            </a:avLst>
          </a:prstGeom>
          <a:solidFill>
            <a:srgbClr val="EEF0FD"/>
          </a:solidFill>
          <a:ln w="12700">
            <a:solidFill>
              <a:srgbClr val="EEF0F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Pipeline title"/>
          <p:cNvSpPr txBox="1"/>
          <p:nvPr/>
        </p:nvSpPr>
        <p:spPr>
          <a:xfrm>
            <a:off x="1371600" y="6446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ResumeLens pipeline</a:t>
            </a:r>
            <a:endParaRPr lang="en-US" sz="3600" dirty="0"/>
          </a:p>
        </p:txBody>
      </p:sp>
      <p:sp>
        <p:nvSpPr>
          <p:cNvPr id="8" name="Pipeline node 1"/>
          <p:cNvSpPr/>
          <p:nvPr/>
        </p:nvSpPr>
        <p:spPr>
          <a:xfrm>
            <a:off x="1371600" y="7269480"/>
            <a:ext cx="3095244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175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Pipeline node text 1"/>
          <p:cNvSpPr txBox="1"/>
          <p:nvPr/>
        </p:nvSpPr>
        <p:spPr>
          <a:xfrm>
            <a:off x="1463040" y="7269480"/>
            <a:ext cx="29123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 text</a:t>
            </a:r>
            <a:endParaRPr lang="en-US" sz="3000" dirty="0"/>
          </a:p>
        </p:txBody>
      </p:sp>
      <p:sp>
        <p:nvSpPr>
          <p:cNvPr id="10" name="Pipeline example 1"/>
          <p:cNvSpPr txBox="1"/>
          <p:nvPr/>
        </p:nvSpPr>
        <p:spPr>
          <a:xfrm>
            <a:off x="1371600" y="9052560"/>
            <a:ext cx="3095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“JS, React.js, NodeJS…”</a:t>
            </a:r>
            <a:endParaRPr lang="en-US" sz="2400" dirty="0"/>
          </a:p>
        </p:txBody>
      </p:sp>
      <p:sp>
        <p:nvSpPr>
          <p:cNvPr id="11" name="Pipeline arrow 1"/>
          <p:cNvSpPr/>
          <p:nvPr/>
        </p:nvSpPr>
        <p:spPr>
          <a:xfrm>
            <a:off x="4604004" y="7795260"/>
            <a:ext cx="502920" cy="548640"/>
          </a:xfrm>
          <a:prstGeom prst="rightArrow">
            <a:avLst/>
          </a:prstGeom>
          <a:solidFill>
            <a:srgbClr val="4646D8"/>
          </a:solidFill>
          <a:ln w="1270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Pipeline node 2"/>
          <p:cNvSpPr/>
          <p:nvPr/>
        </p:nvSpPr>
        <p:spPr>
          <a:xfrm>
            <a:off x="5244084" y="7269480"/>
            <a:ext cx="3095244" cy="1600200"/>
          </a:xfrm>
          <a:prstGeom prst="roundRect">
            <a:avLst>
              <a:gd name="adj" fmla="val 11429"/>
            </a:avLst>
          </a:prstGeom>
          <a:solidFill>
            <a:srgbClr val="4646D8"/>
          </a:solidFill>
          <a:ln w="3175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Pipeline node text 2"/>
          <p:cNvSpPr txBox="1"/>
          <p:nvPr/>
        </p:nvSpPr>
        <p:spPr>
          <a:xfrm>
            <a:off x="5335524" y="7269480"/>
            <a:ext cx="29123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Regex</a:t>
            </a:r>
            <a:endParaRPr lang="en-US" sz="30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3000" dirty="0"/>
          </a:p>
        </p:txBody>
      </p:sp>
      <p:sp>
        <p:nvSpPr>
          <p:cNvPr id="14" name="Pipeline example 2"/>
          <p:cNvSpPr txBox="1"/>
          <p:nvPr/>
        </p:nvSpPr>
        <p:spPr>
          <a:xfrm>
            <a:off x="5244084" y="9052560"/>
            <a:ext cx="3095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 · React.js · NodeJS…</a:t>
            </a:r>
            <a:endParaRPr lang="en-US" sz="2400" dirty="0"/>
          </a:p>
        </p:txBody>
      </p:sp>
      <p:sp>
        <p:nvSpPr>
          <p:cNvPr id="15" name="Pipeline arrow 2"/>
          <p:cNvSpPr/>
          <p:nvPr/>
        </p:nvSpPr>
        <p:spPr>
          <a:xfrm>
            <a:off x="8476488" y="7795260"/>
            <a:ext cx="502920" cy="548640"/>
          </a:xfrm>
          <a:prstGeom prst="rightArrow">
            <a:avLst/>
          </a:prstGeom>
          <a:solidFill>
            <a:srgbClr val="4646D8"/>
          </a:solidFill>
          <a:ln w="1270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Pipeline node 3"/>
          <p:cNvSpPr/>
          <p:nvPr/>
        </p:nvSpPr>
        <p:spPr>
          <a:xfrm>
            <a:off x="9116568" y="7269480"/>
            <a:ext cx="3095244" cy="1600200"/>
          </a:xfrm>
          <a:prstGeom prst="roundRect">
            <a:avLst>
              <a:gd name="adj" fmla="val 11429"/>
            </a:avLst>
          </a:prstGeom>
          <a:solidFill>
            <a:srgbClr val="4646D8"/>
          </a:solidFill>
          <a:ln w="3175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Pipeline node text 3"/>
          <p:cNvSpPr txBox="1"/>
          <p:nvPr/>
        </p:nvSpPr>
        <p:spPr>
          <a:xfrm>
            <a:off x="9208008" y="7269480"/>
            <a:ext cx="29123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FST</a:t>
            </a:r>
            <a:endParaRPr lang="en-US" sz="30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+ sort</a:t>
            </a:r>
            <a:endParaRPr lang="en-US" sz="3000" dirty="0"/>
          </a:p>
        </p:txBody>
      </p:sp>
      <p:sp>
        <p:nvSpPr>
          <p:cNvPr id="18" name="Pipeline example 3"/>
          <p:cNvSpPr txBox="1"/>
          <p:nvPr/>
        </p:nvSpPr>
        <p:spPr>
          <a:xfrm>
            <a:off x="9116568" y="9052560"/>
            <a:ext cx="3095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JAVASCRIPT, REACT, NODE_JS…</a:t>
            </a:r>
            <a:endParaRPr lang="en-US" sz="2400" dirty="0"/>
          </a:p>
        </p:txBody>
      </p:sp>
      <p:sp>
        <p:nvSpPr>
          <p:cNvPr id="19" name="Pipeline arrow 3"/>
          <p:cNvSpPr/>
          <p:nvPr/>
        </p:nvSpPr>
        <p:spPr>
          <a:xfrm>
            <a:off x="12348972" y="7795260"/>
            <a:ext cx="502920" cy="548640"/>
          </a:xfrm>
          <a:prstGeom prst="rightArrow">
            <a:avLst/>
          </a:prstGeom>
          <a:solidFill>
            <a:srgbClr val="4646D8"/>
          </a:solidFill>
          <a:ln w="1270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Pipeline node 4"/>
          <p:cNvSpPr/>
          <p:nvPr/>
        </p:nvSpPr>
        <p:spPr>
          <a:xfrm>
            <a:off x="12989052" y="7269480"/>
            <a:ext cx="3095244" cy="1600200"/>
          </a:xfrm>
          <a:prstGeom prst="roundRect">
            <a:avLst>
              <a:gd name="adj" fmla="val 11429"/>
            </a:avLst>
          </a:prstGeom>
          <a:solidFill>
            <a:srgbClr val="4646D8"/>
          </a:solidFill>
          <a:ln w="3175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Pipeline node text 4"/>
          <p:cNvSpPr txBox="1"/>
          <p:nvPr/>
        </p:nvSpPr>
        <p:spPr>
          <a:xfrm>
            <a:off x="13080492" y="7269480"/>
            <a:ext cx="29123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Automata</a:t>
            </a:r>
            <a:endParaRPr lang="en-US" sz="30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3000" dirty="0"/>
          </a:p>
        </p:txBody>
      </p:sp>
      <p:sp>
        <p:nvSpPr>
          <p:cNvPr id="22" name="Pipeline example 4"/>
          <p:cNvSpPr txBox="1"/>
          <p:nvPr/>
        </p:nvSpPr>
        <p:spPr>
          <a:xfrm>
            <a:off x="12989052" y="9052560"/>
            <a:ext cx="3095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FULL_STACK: ACCEPTED</a:t>
            </a:r>
            <a:endParaRPr lang="en-US" sz="2400" dirty="0"/>
          </a:p>
        </p:txBody>
      </p:sp>
      <p:sp>
        <p:nvSpPr>
          <p:cNvPr id="23" name="Pipeline arrow 4"/>
          <p:cNvSpPr/>
          <p:nvPr/>
        </p:nvSpPr>
        <p:spPr>
          <a:xfrm>
            <a:off x="16221456" y="7795260"/>
            <a:ext cx="502920" cy="548640"/>
          </a:xfrm>
          <a:prstGeom prst="rightArrow">
            <a:avLst/>
          </a:prstGeom>
          <a:solidFill>
            <a:srgbClr val="4646D8"/>
          </a:solidFill>
          <a:ln w="1270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Pipeline node 5"/>
          <p:cNvSpPr/>
          <p:nvPr/>
        </p:nvSpPr>
        <p:spPr>
          <a:xfrm>
            <a:off x="16861536" y="7269480"/>
            <a:ext cx="3095244" cy="1600200"/>
          </a:xfrm>
          <a:prstGeom prst="roundRect">
            <a:avLst>
              <a:gd name="adj" fmla="val 11429"/>
            </a:avLst>
          </a:prstGeom>
          <a:solidFill>
            <a:srgbClr val="4646D8"/>
          </a:solidFill>
          <a:ln w="3175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Pipeline node text 5"/>
          <p:cNvSpPr txBox="1"/>
          <p:nvPr/>
        </p:nvSpPr>
        <p:spPr>
          <a:xfrm>
            <a:off x="16952976" y="7269480"/>
            <a:ext cx="29123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CFG (textX)</a:t>
            </a:r>
            <a:endParaRPr lang="en-US" sz="3000" dirty="0"/>
          </a:p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3000" dirty="0"/>
          </a:p>
        </p:txBody>
      </p:sp>
      <p:sp>
        <p:nvSpPr>
          <p:cNvPr id="26" name="Pipeline example 5"/>
          <p:cNvSpPr txBox="1"/>
          <p:nvPr/>
        </p:nvSpPr>
        <p:spPr>
          <a:xfrm>
            <a:off x="16861536" y="9052560"/>
            <a:ext cx="3095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candidate profile</a:t>
            </a:r>
            <a:endParaRPr lang="en-US" sz="2400" dirty="0"/>
          </a:p>
        </p:txBody>
      </p:sp>
      <p:sp>
        <p:nvSpPr>
          <p:cNvPr id="27" name="Pipeline arrow 5"/>
          <p:cNvSpPr/>
          <p:nvPr/>
        </p:nvSpPr>
        <p:spPr>
          <a:xfrm>
            <a:off x="20093940" y="7795260"/>
            <a:ext cx="502920" cy="548640"/>
          </a:xfrm>
          <a:prstGeom prst="rightArrow">
            <a:avLst/>
          </a:prstGeom>
          <a:solidFill>
            <a:srgbClr val="4646D8"/>
          </a:solidFill>
          <a:ln w="1270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Pipeline node 6"/>
          <p:cNvSpPr/>
          <p:nvPr/>
        </p:nvSpPr>
        <p:spPr>
          <a:xfrm>
            <a:off x="20734020" y="7269480"/>
            <a:ext cx="3095244" cy="16002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3175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Pipeline node text 6"/>
          <p:cNvSpPr txBox="1"/>
          <p:nvPr/>
        </p:nvSpPr>
        <p:spPr>
          <a:xfrm>
            <a:off x="20825460" y="7269480"/>
            <a:ext cx="29123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profile</a:t>
            </a:r>
            <a:endParaRPr lang="en-US" sz="3000" dirty="0"/>
          </a:p>
        </p:txBody>
      </p:sp>
      <p:sp>
        <p:nvSpPr>
          <p:cNvPr id="30" name="Pipeline example 6"/>
          <p:cNvSpPr txBox="1"/>
          <p:nvPr/>
        </p:nvSpPr>
        <p:spPr>
          <a:xfrm>
            <a:off x="20734020" y="9052560"/>
            <a:ext cx="30952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 visualization</a:t>
            </a:r>
            <a:endParaRPr lang="en-US" sz="2400" dirty="0"/>
          </a:p>
        </p:txBody>
      </p:sp>
      <p:sp>
        <p:nvSpPr>
          <p:cNvPr id="31" name="Heading Introduction"/>
          <p:cNvSpPr txBox="1"/>
          <p:nvPr/>
        </p:nvSpPr>
        <p:spPr>
          <a:xfrm>
            <a:off x="914400" y="10972800"/>
            <a:ext cx="730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6000" dirty="0"/>
          </a:p>
        </p:txBody>
      </p:sp>
      <p:sp>
        <p:nvSpPr>
          <p:cNvPr id="32" name="Introduction text"/>
          <p:cNvSpPr txBox="1"/>
          <p:nvPr/>
        </p:nvSpPr>
        <p:spPr>
          <a:xfrm>
            <a:off x="914400" y="12115800"/>
            <a:ext cx="730300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skill, many spellings: JS, Javascript, JavaScript; sklearn.</a:t>
            </a:r>
            <a:endParaRPr lang="en-US" sz="3200" dirty="0"/>
          </a:p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screening of many résumés is slow and inconsistent.</a:t>
            </a:r>
            <a:endParaRPr lang="en-US" sz="3200" dirty="0"/>
          </a:p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verify explicit qualifications — never rank candidates.</a:t>
            </a:r>
            <a:endParaRPr lang="en-US" sz="3200" dirty="0"/>
          </a:p>
        </p:txBody>
      </p:sp>
      <p:sp>
        <p:nvSpPr>
          <p:cNvPr id="33" name="Objective box"/>
          <p:cNvSpPr/>
          <p:nvPr/>
        </p:nvSpPr>
        <p:spPr>
          <a:xfrm>
            <a:off x="914400" y="16459200"/>
            <a:ext cx="7303008" cy="3291840"/>
          </a:xfrm>
          <a:prstGeom prst="roundRect">
            <a:avLst>
              <a:gd name="adj" fmla="val 8333"/>
            </a:avLst>
          </a:prstGeom>
          <a:solidFill>
            <a:srgbClr val="EEF0FD"/>
          </a:solidFill>
          <a:ln w="2540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Objective text"/>
          <p:cNvSpPr txBox="1"/>
          <p:nvPr/>
        </p:nvSpPr>
        <p:spPr>
          <a:xfrm>
            <a:off x="1325880" y="16733520"/>
            <a:ext cx="64800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36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Decide, with formal language models, whether the explicit qualifications of a plain-text résumé satisfy each of four profile patterns.</a:t>
            </a:r>
            <a:endParaRPr lang="en-US" sz="3600" dirty="0"/>
          </a:p>
        </p:txBody>
      </p:sp>
      <p:sp>
        <p:nvSpPr>
          <p:cNvPr id="35" name="Heading Related work"/>
          <p:cNvSpPr txBox="1"/>
          <p:nvPr/>
        </p:nvSpPr>
        <p:spPr>
          <a:xfrm>
            <a:off x="914400" y="20208240"/>
            <a:ext cx="730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6000" dirty="0"/>
          </a:p>
        </p:txBody>
      </p:sp>
      <p:sp>
        <p:nvSpPr>
          <p:cNvPr id="36" name="Related work text"/>
          <p:cNvSpPr txBox="1"/>
          <p:nvPr/>
        </p:nvSpPr>
        <p:spPr>
          <a:xfrm>
            <a:off x="914400" y="21351240"/>
            <a:ext cx="73030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filters miss variants; ML parsers are hard to explain.</a:t>
            </a:r>
            <a:endParaRPr lang="en-US" sz="3200" dirty="0"/>
          </a:p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rules are testable: DFAs, CFGs [1], FSTs [2], textX [3].</a:t>
            </a:r>
            <a:endParaRPr lang="en-US" sz="3200" dirty="0"/>
          </a:p>
        </p:txBody>
      </p:sp>
      <p:sp>
        <p:nvSpPr>
          <p:cNvPr id="37" name="Heading Profiles"/>
          <p:cNvSpPr txBox="1"/>
          <p:nvPr/>
        </p:nvSpPr>
        <p:spPr>
          <a:xfrm>
            <a:off x="914400" y="24643080"/>
            <a:ext cx="730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Profiles</a:t>
            </a:r>
            <a:endParaRPr lang="en-US" sz="6000" dirty="0"/>
          </a:p>
        </p:txBody>
      </p:sp>
      <p:sp>
        <p:nvSpPr>
          <p:cNvPr id="38" name="Profile card 1"/>
          <p:cNvSpPr/>
          <p:nvPr/>
        </p:nvSpPr>
        <p:spPr>
          <a:xfrm>
            <a:off x="914400" y="25786080"/>
            <a:ext cx="3514344" cy="2926080"/>
          </a:xfrm>
          <a:prstGeom prst="roundRect">
            <a:avLst>
              <a:gd name="adj" fmla="val 6250"/>
            </a:avLst>
          </a:prstGeom>
          <a:solidFill>
            <a:srgbClr val="EEF0FD"/>
          </a:solidFill>
          <a:ln w="2540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Profile card text 1"/>
          <p:cNvSpPr txBox="1"/>
          <p:nvPr/>
        </p:nvSpPr>
        <p:spPr>
          <a:xfrm>
            <a:off x="1143000" y="25968960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Developer</a:t>
            </a:r>
            <a:endParaRPr lang="en-US" sz="2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4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JS/TS · React/Angular/Vue · Backend · REST? · DB · Git</a:t>
            </a:r>
            <a:endParaRPr lang="en-US" sz="2800" dirty="0"/>
          </a:p>
        </p:txBody>
      </p:sp>
      <p:sp>
        <p:nvSpPr>
          <p:cNvPr id="40" name="Profile card 2"/>
          <p:cNvSpPr/>
          <p:nvPr/>
        </p:nvSpPr>
        <p:spPr>
          <a:xfrm>
            <a:off x="4703064" y="25786080"/>
            <a:ext cx="3514344" cy="2926080"/>
          </a:xfrm>
          <a:prstGeom prst="roundRect">
            <a:avLst>
              <a:gd name="adj" fmla="val 6250"/>
            </a:avLst>
          </a:prstGeom>
          <a:solidFill>
            <a:srgbClr val="EEF0FD"/>
          </a:solidFill>
          <a:ln w="2540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Profile card text 2"/>
          <p:cNvSpPr txBox="1"/>
          <p:nvPr/>
        </p:nvSpPr>
        <p:spPr>
          <a:xfrm>
            <a:off x="4931664" y="25968960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Engineer</a:t>
            </a:r>
            <a:endParaRPr lang="en-US" sz="28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4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Pandas/NumPy · ML library · SQL · Git</a:t>
            </a:r>
            <a:endParaRPr lang="en-US" sz="2800" dirty="0"/>
          </a:p>
        </p:txBody>
      </p:sp>
      <p:sp>
        <p:nvSpPr>
          <p:cNvPr id="46" name="Heading Methodology"/>
          <p:cNvSpPr txBox="1"/>
          <p:nvPr/>
        </p:nvSpPr>
        <p:spPr>
          <a:xfrm>
            <a:off x="8948928" y="10972800"/>
            <a:ext cx="730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6000" dirty="0"/>
          </a:p>
        </p:txBody>
      </p:sp>
      <p:sp>
        <p:nvSpPr>
          <p:cNvPr id="47" name="Stage title 1"/>
          <p:cNvSpPr txBox="1"/>
          <p:nvPr/>
        </p:nvSpPr>
        <p:spPr>
          <a:xfrm>
            <a:off x="8948928" y="12161520"/>
            <a:ext cx="730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Regular expressions</a:t>
            </a:r>
            <a:endParaRPr lang="en-US" sz="3600" dirty="0"/>
          </a:p>
        </p:txBody>
      </p:sp>
      <p:sp>
        <p:nvSpPr>
          <p:cNvPr id="48" name="Figure 1"/>
          <p:cNvSpPr/>
          <p:nvPr/>
        </p:nvSpPr>
        <p:spPr>
          <a:xfrm>
            <a:off x="8948928" y="12938760"/>
            <a:ext cx="7303008" cy="3154680"/>
          </a:xfrm>
          <a:prstGeom prst="roundRect">
            <a:avLst>
              <a:gd name="adj" fmla="val 5797"/>
            </a:avLst>
          </a:prstGeom>
          <a:solidFill>
            <a:srgbClr val="EEF0FD"/>
          </a:solidFill>
          <a:ln w="38100">
            <a:solidFill>
              <a:srgbClr val="9EA3E8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50" name="Figure 1 caption"/>
          <p:cNvSpPr txBox="1"/>
          <p:nvPr/>
        </p:nvSpPr>
        <p:spPr>
          <a:xfrm>
            <a:off x="8948928" y="16184880"/>
            <a:ext cx="7303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1. </a:t>
            </a:r>
            <a:r>
              <a:rPr lang="en-US" sz="26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for programming languages.</a:t>
            </a:r>
            <a:endParaRPr lang="en-US" sz="2600" dirty="0"/>
          </a:p>
        </p:txBody>
      </p:sp>
      <p:sp>
        <p:nvSpPr>
          <p:cNvPr id="51" name="Stage title 2"/>
          <p:cNvSpPr txBox="1"/>
          <p:nvPr/>
        </p:nvSpPr>
        <p:spPr>
          <a:xfrm>
            <a:off x="8948928" y="17099280"/>
            <a:ext cx="730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Finite-state transducers</a:t>
            </a:r>
            <a:endParaRPr lang="en-US" sz="3600" dirty="0"/>
          </a:p>
        </p:txBody>
      </p:sp>
      <p:sp>
        <p:nvSpPr>
          <p:cNvPr id="52" name="Figure 2"/>
          <p:cNvSpPr/>
          <p:nvPr/>
        </p:nvSpPr>
        <p:spPr>
          <a:xfrm>
            <a:off x="8948928" y="17876520"/>
            <a:ext cx="7303008" cy="3154680"/>
          </a:xfrm>
          <a:prstGeom prst="roundRect">
            <a:avLst>
              <a:gd name="adj" fmla="val 5797"/>
            </a:avLst>
          </a:prstGeom>
          <a:solidFill>
            <a:srgbClr val="EEF0FD"/>
          </a:solidFill>
          <a:ln w="38100">
            <a:solidFill>
              <a:srgbClr val="9EA3E8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54" name="Figure 2 caption"/>
          <p:cNvSpPr txBox="1"/>
          <p:nvPr/>
        </p:nvSpPr>
        <p:spPr>
          <a:xfrm>
            <a:off x="8948928" y="21122640"/>
            <a:ext cx="7303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2. </a:t>
            </a:r>
            <a:r>
              <a:rPr lang="en-US" sz="26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FSTs T1, T2: JS → JAVASCRIPT.</a:t>
            </a:r>
            <a:endParaRPr lang="en-US" sz="2600" dirty="0"/>
          </a:p>
        </p:txBody>
      </p:sp>
      <p:sp>
        <p:nvSpPr>
          <p:cNvPr id="55" name="Stage title 3"/>
          <p:cNvSpPr txBox="1"/>
          <p:nvPr/>
        </p:nvSpPr>
        <p:spPr>
          <a:xfrm>
            <a:off x="8948928" y="22037040"/>
            <a:ext cx="730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Finite automata</a:t>
            </a:r>
            <a:endParaRPr lang="en-US" sz="3600" dirty="0"/>
          </a:p>
        </p:txBody>
      </p:sp>
      <p:sp>
        <p:nvSpPr>
          <p:cNvPr id="56" name="Figure 3"/>
          <p:cNvSpPr/>
          <p:nvPr/>
        </p:nvSpPr>
        <p:spPr>
          <a:xfrm>
            <a:off x="8948928" y="22814280"/>
            <a:ext cx="7303008" cy="3154680"/>
          </a:xfrm>
          <a:prstGeom prst="roundRect">
            <a:avLst>
              <a:gd name="adj" fmla="val 5797"/>
            </a:avLst>
          </a:prstGeom>
          <a:solidFill>
            <a:srgbClr val="EEF0FD"/>
          </a:solidFill>
          <a:ln w="38100">
            <a:solidFill>
              <a:srgbClr val="9EA3E8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58" name="Figure 3 caption"/>
          <p:cNvSpPr txBox="1"/>
          <p:nvPr/>
        </p:nvSpPr>
        <p:spPr>
          <a:xfrm>
            <a:off x="8948928" y="26060400"/>
            <a:ext cx="7303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3. </a:t>
            </a:r>
            <a:r>
              <a:rPr lang="en-US" sz="26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Developer DFA (pyformlang).</a:t>
            </a:r>
            <a:endParaRPr lang="en-US" sz="2600" dirty="0"/>
          </a:p>
        </p:txBody>
      </p:sp>
      <p:sp>
        <p:nvSpPr>
          <p:cNvPr id="59" name="Stage title 4"/>
          <p:cNvSpPr txBox="1"/>
          <p:nvPr/>
        </p:nvSpPr>
        <p:spPr>
          <a:xfrm>
            <a:off x="8948928" y="26974800"/>
            <a:ext cx="7303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Context-free grammar</a:t>
            </a:r>
            <a:endParaRPr lang="en-US" sz="3600" dirty="0"/>
          </a:p>
        </p:txBody>
      </p:sp>
      <p:sp>
        <p:nvSpPr>
          <p:cNvPr id="60" name="Figure 4"/>
          <p:cNvSpPr/>
          <p:nvPr/>
        </p:nvSpPr>
        <p:spPr>
          <a:xfrm>
            <a:off x="8948928" y="27752040"/>
            <a:ext cx="7303008" cy="3154680"/>
          </a:xfrm>
          <a:prstGeom prst="roundRect">
            <a:avLst>
              <a:gd name="adj" fmla="val 5797"/>
            </a:avLst>
          </a:prstGeom>
          <a:solidFill>
            <a:srgbClr val="EEF0FD"/>
          </a:solidFill>
          <a:ln w="38100">
            <a:solidFill>
              <a:srgbClr val="9EA3E8"/>
            </a:solidFill>
          </a:ln>
        </p:spPr>
        <p:txBody>
          <a:bodyPr/>
          <a:lstStyle/>
          <a:p>
            <a:endParaRPr lang="es-CO"/>
          </a:p>
        </p:txBody>
      </p:sp>
      <p:sp>
        <p:nvSpPr>
          <p:cNvPr id="62" name="Figure 4 caption"/>
          <p:cNvSpPr txBox="1"/>
          <p:nvPr/>
        </p:nvSpPr>
        <p:spPr>
          <a:xfrm>
            <a:off x="8948928" y="30998160"/>
            <a:ext cx="7303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4. </a:t>
            </a:r>
            <a:r>
              <a:rPr lang="en-US" sz="26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rules of the candidate DSL.</a:t>
            </a:r>
            <a:endParaRPr lang="en-US" sz="2600" dirty="0"/>
          </a:p>
        </p:txBody>
      </p:sp>
      <p:sp>
        <p:nvSpPr>
          <p:cNvPr id="63" name="Heading Results"/>
          <p:cNvSpPr txBox="1"/>
          <p:nvPr/>
        </p:nvSpPr>
        <p:spPr>
          <a:xfrm>
            <a:off x="16983456" y="10972800"/>
            <a:ext cx="730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6000" dirty="0"/>
          </a:p>
        </p:txBody>
      </p:sp>
      <p:sp>
        <p:nvSpPr>
          <p:cNvPr id="68" name="Table 1 title"/>
          <p:cNvSpPr txBox="1"/>
          <p:nvPr/>
        </p:nvSpPr>
        <p:spPr>
          <a:xfrm>
            <a:off x="16983456" y="14950440"/>
            <a:ext cx="7303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1. </a:t>
            </a:r>
            <a:r>
              <a:rPr lang="en-US" sz="26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example: Wednesday Addams.</a:t>
            </a:r>
            <a:endParaRPr lang="en-US" sz="26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83456" y="15681960"/>
          <a:ext cx="7303008" cy="4069080"/>
        </p:xfrm>
        <a:graphic>
          <a:graphicData uri="http://schemas.openxmlformats.org/drawingml/2006/table">
            <a:tbl>
              <a:tblPr/>
              <a:tblGrid>
                <a:gridCol w="21909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2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Regex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JS, React.js, NodeJS, Postgres, Git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FST + sort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JAVASCRIPT, REACT, NODE_JS, POSTGRESQL, GIT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DFA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ACCEPTED: q0→q_L→q_F→q_B→q_D→q_V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textX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profile → HTML page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0" name="Table 2 title"/>
          <p:cNvSpPr txBox="1"/>
          <p:nvPr/>
        </p:nvSpPr>
        <p:spPr>
          <a:xfrm>
            <a:off x="16983456" y="20345400"/>
            <a:ext cx="7303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2. </a:t>
            </a:r>
            <a:r>
              <a:rPr lang="en-US" sz="26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Verdicts over 8 test résumés by profile.</a:t>
            </a:r>
            <a:endParaRPr lang="en-US" sz="2600" dirty="0"/>
          </a:p>
        </p:txBody>
      </p:sp>
      <p:graphicFrame>
        <p:nvGraphicFramePr>
          <p:cNvPr id="7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83456" y="21076920"/>
          <a:ext cx="7303008" cy="2834640"/>
        </p:xfrm>
        <a:graphic>
          <a:graphicData uri="http://schemas.openxmlformats.org/drawingml/2006/table">
            <a:tbl>
              <a:tblPr/>
              <a:tblGrid>
                <a:gridCol w="3505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Accepted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Stack Developer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Engineer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 Engineer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Engineer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A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Heading Conclusions"/>
          <p:cNvSpPr txBox="1"/>
          <p:nvPr/>
        </p:nvSpPr>
        <p:spPr>
          <a:xfrm>
            <a:off x="16983456" y="24323040"/>
            <a:ext cx="730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6000" dirty="0"/>
          </a:p>
        </p:txBody>
      </p:sp>
      <p:sp>
        <p:nvSpPr>
          <p:cNvPr id="73" name="Conclusions text"/>
          <p:cNvSpPr txBox="1"/>
          <p:nvPr/>
        </p:nvSpPr>
        <p:spPr>
          <a:xfrm>
            <a:off x="16983456" y="25466040"/>
            <a:ext cx="73030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 of four formal models covers four profiles.</a:t>
            </a:r>
            <a:endParaRPr lang="en-US" sz="3200" dirty="0"/>
          </a:p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verdict is traceable: token → DFA path → DSL.</a:t>
            </a:r>
            <a:endParaRPr lang="en-US" sz="3200" dirty="0"/>
          </a:p>
        </p:txBody>
      </p:sp>
      <p:sp>
        <p:nvSpPr>
          <p:cNvPr id="74" name="Heading Limitations"/>
          <p:cNvSpPr txBox="1"/>
          <p:nvPr/>
        </p:nvSpPr>
        <p:spPr>
          <a:xfrm>
            <a:off x="16983456" y="27889200"/>
            <a:ext cx="730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6000" dirty="0"/>
          </a:p>
        </p:txBody>
      </p:sp>
      <p:sp>
        <p:nvSpPr>
          <p:cNvPr id="75" name="Limitations text"/>
          <p:cNvSpPr txBox="1"/>
          <p:nvPr/>
        </p:nvSpPr>
        <p:spPr>
          <a:xfrm>
            <a:off x="16983456" y="29032200"/>
            <a:ext cx="73030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catalog: unseen tools (Spark, Airflow) are ignored.</a:t>
            </a:r>
            <a:endParaRPr lang="en-US" sz="3200" dirty="0"/>
          </a:p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grow the catalog, add stage-3 tests and PDF/DOCX input.</a:t>
            </a:r>
            <a:endParaRPr lang="en-US" sz="3200" dirty="0"/>
          </a:p>
        </p:txBody>
      </p:sp>
      <p:sp>
        <p:nvSpPr>
          <p:cNvPr id="76" name="Footer separator"/>
          <p:cNvSpPr/>
          <p:nvPr/>
        </p:nvSpPr>
        <p:spPr>
          <a:xfrm>
            <a:off x="914400" y="32278320"/>
            <a:ext cx="23372064" cy="0"/>
          </a:xfrm>
          <a:prstGeom prst="line">
            <a:avLst/>
          </a:prstGeom>
          <a:noFill/>
          <a:ln w="25400">
            <a:solidFill>
              <a:srgbClr val="9EA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7" name="References"/>
          <p:cNvSpPr txBox="1"/>
          <p:nvPr/>
        </p:nvSpPr>
        <p:spPr>
          <a:xfrm>
            <a:off x="914400" y="32598360"/>
            <a:ext cx="11887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J. E. Hopcroft, R. Motwani, J. D. Ullman. Introduction to Automata Theory, Languages, and Computation, 3rd ed. Pearson, 2006.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M. Mohri. Finite-State Transducers in Language and Speech Processing. Computational Linguistics 23(2), 1997.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I. Dejanović et al. TextX: A Python tool for Domain-Specific Languages implementation. Knowledge-Based Systems 115, 2017.</a:t>
            </a:r>
            <a:endParaRPr lang="en-US" sz="2400" dirty="0"/>
          </a:p>
        </p:txBody>
      </p:sp>
      <p:sp>
        <p:nvSpPr>
          <p:cNvPr id="78" name="Repository info"/>
          <p:cNvSpPr txBox="1"/>
          <p:nvPr/>
        </p:nvSpPr>
        <p:spPr>
          <a:xfrm>
            <a:off x="16322040" y="32598360"/>
            <a:ext cx="7918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repository</a:t>
            </a:r>
            <a:endParaRPr lang="en-US" sz="2400" dirty="0"/>
          </a:p>
          <a:p>
            <a:pPr algn="r"/>
            <a:r>
              <a:rPr lang="en-US" sz="24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https://github.com/Juanm3005/ResumeLens.git</a:t>
            </a:r>
            <a:endParaRPr lang="en-US" sz="2400" dirty="0">
              <a:solidFill>
                <a:srgbClr val="5A5F7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r"/>
            <a:r>
              <a:rPr lang="en-US" sz="24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Python re, </a:t>
            </a:r>
            <a:r>
              <a:rPr lang="en-US" sz="2400" dirty="0" err="1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pyformlang</a:t>
            </a:r>
            <a:r>
              <a:rPr lang="en-US" sz="24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2400" dirty="0" err="1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textX</a:t>
            </a:r>
            <a:r>
              <a:rPr lang="en-US" sz="2400" dirty="0">
                <a:solidFill>
                  <a:srgbClr val="5A5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82" name="Profile card 3">
            <a:extLst>
              <a:ext uri="{FF2B5EF4-FFF2-40B4-BE49-F238E27FC236}">
                <a16:creationId xmlns:a16="http://schemas.microsoft.com/office/drawing/2014/main" id="{FF97A414-BC4E-F686-39CF-C995EAACDFDD}"/>
              </a:ext>
            </a:extLst>
          </p:cNvPr>
          <p:cNvSpPr/>
          <p:nvPr/>
        </p:nvSpPr>
        <p:spPr>
          <a:xfrm>
            <a:off x="914400" y="28895040"/>
            <a:ext cx="3514344" cy="2926080"/>
          </a:xfrm>
          <a:prstGeom prst="roundRect">
            <a:avLst>
              <a:gd name="adj" fmla="val 6250"/>
            </a:avLst>
          </a:prstGeom>
          <a:solidFill>
            <a:srgbClr val="EEF0FD"/>
          </a:solidFill>
          <a:ln w="2540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4" name="Profile card text 3">
            <a:extLst>
              <a:ext uri="{FF2B5EF4-FFF2-40B4-BE49-F238E27FC236}">
                <a16:creationId xmlns:a16="http://schemas.microsoft.com/office/drawing/2014/main" id="{5047E1D9-2B9F-D083-C7A6-91F2435CBF1E}"/>
              </a:ext>
            </a:extLst>
          </p:cNvPr>
          <p:cNvSpPr txBox="1"/>
          <p:nvPr/>
        </p:nvSpPr>
        <p:spPr>
          <a:xfrm>
            <a:off x="1143000" y="29123640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Engineer</a:t>
            </a:r>
            <a:endParaRPr lang="en-US" sz="2800" dirty="0"/>
          </a:p>
          <a:p>
            <a:pPr>
              <a:spcAft>
                <a:spcPts val="600"/>
              </a:spcAft>
            </a:pPr>
            <a:r>
              <a:rPr lang="es-CO" sz="2400" dirty="0"/>
              <a:t>Linux · Python? · Docker · Kubernetes? · Cloud · Git</a:t>
            </a:r>
            <a:endParaRPr lang="en-US" sz="2800" dirty="0"/>
          </a:p>
        </p:txBody>
      </p:sp>
      <p:sp>
        <p:nvSpPr>
          <p:cNvPr id="86" name="Profile card 4">
            <a:extLst>
              <a:ext uri="{FF2B5EF4-FFF2-40B4-BE49-F238E27FC236}">
                <a16:creationId xmlns:a16="http://schemas.microsoft.com/office/drawing/2014/main" id="{97753E26-7C4D-0C10-77B2-E7186EC3C14C}"/>
              </a:ext>
            </a:extLst>
          </p:cNvPr>
          <p:cNvSpPr/>
          <p:nvPr/>
        </p:nvSpPr>
        <p:spPr>
          <a:xfrm>
            <a:off x="4657344" y="28940760"/>
            <a:ext cx="3514344" cy="2926080"/>
          </a:xfrm>
          <a:prstGeom prst="roundRect">
            <a:avLst>
              <a:gd name="adj" fmla="val 6250"/>
            </a:avLst>
          </a:prstGeom>
          <a:solidFill>
            <a:srgbClr val="EEF0FD"/>
          </a:solidFill>
          <a:ln w="25400">
            <a:solidFill>
              <a:srgbClr val="4646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8" name="Profile card text 4">
            <a:extLst>
              <a:ext uri="{FF2B5EF4-FFF2-40B4-BE49-F238E27FC236}">
                <a16:creationId xmlns:a16="http://schemas.microsoft.com/office/drawing/2014/main" id="{7C1E6CFB-D0BD-8CA7-DEC8-92C836A1B0B6}"/>
              </a:ext>
            </a:extLst>
          </p:cNvPr>
          <p:cNvSpPr txBox="1"/>
          <p:nvPr/>
        </p:nvSpPr>
        <p:spPr>
          <a:xfrm>
            <a:off x="4931664" y="29123640"/>
            <a:ext cx="3057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464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</a:t>
            </a:r>
            <a:endParaRPr lang="en-US" sz="2800" dirty="0"/>
          </a:p>
          <a:p>
            <a:pPr>
              <a:spcAft>
                <a:spcPts val="600"/>
              </a:spcAft>
            </a:pPr>
            <a:r>
              <a:rPr lang="es-CO" sz="2400" dirty="0"/>
              <a:t>Python/Java · SQL · DB · Pipelines? · Cloud · Git</a:t>
            </a:r>
            <a:endParaRPr lang="en-US" sz="2800" dirty="0"/>
          </a:p>
        </p:txBody>
      </p:sp>
      <p:sp>
        <p:nvSpPr>
          <p:cNvPr id="89" name="Profiles note"/>
          <p:cNvSpPr txBox="1"/>
          <p:nvPr/>
        </p:nvSpPr>
        <p:spPr>
          <a:xfrm>
            <a:off x="4206240" y="24761952"/>
            <a:ext cx="4014216" cy="73152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2200" b="0">
                <a:solidFill>
                  <a:srgbClr val="5A5F78"/>
                </a:solidFill>
                <a:latin typeface="Arial"/>
              </a:rPr>
              <a:t>? = optional group</a:t>
            </a:r>
          </a:p>
        </p:txBody>
      </p:sp>
      <p:sp>
        <p:nvSpPr>
          <p:cNvPr id="90" name="Fig1 regex"/>
          <p:cNvSpPr txBox="1"/>
          <p:nvPr/>
        </p:nvSpPr>
        <p:spPr>
          <a:xfrm>
            <a:off x="9180576" y="13121640"/>
            <a:ext cx="684885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4646D8"/>
                </a:solidFill>
                <a:latin typeface="Courier New"/>
              </a:rPr>
              <a:t>(?&lt;![\w+#.])(?:JavaScript|Javascript|JS|</a:t>
            </a:r>
          </a:p>
          <a:p>
            <a:pPr algn="l"/>
            <a:r>
              <a:rPr sz="1700" b="1">
                <a:solidFill>
                  <a:srgbClr val="4646D8"/>
                </a:solidFill>
                <a:latin typeface="Courier New"/>
              </a:rPr>
              <a:t>TypeScript|Java|C\+\+|C#|Python|Ruby|PHP|</a:t>
            </a:r>
          </a:p>
          <a:p>
            <a:pPr algn="l"/>
            <a:r>
              <a:rPr sz="1700" b="1">
                <a:solidFill>
                  <a:srgbClr val="4646D8"/>
                </a:solidFill>
                <a:latin typeface="Courier New"/>
              </a:rPr>
              <a:t>Kotlin|Swift|Rust|SQL)(?![\w+#])</a:t>
            </a:r>
          </a:p>
        </p:txBody>
      </p:sp>
      <p:sp>
        <p:nvSpPr>
          <p:cNvPr id="91" name="Fig1 language"/>
          <p:cNvSpPr txBox="1"/>
          <p:nvPr/>
        </p:nvSpPr>
        <p:spPr>
          <a:xfrm>
            <a:off x="9180576" y="14310360"/>
            <a:ext cx="6848856" cy="1691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E2340"/>
                </a:solidFill>
                <a:latin typeface="Arial"/>
              </a:rPr>
              <a:t>L = </a:t>
            </a:r>
            <a:r>
              <a:rPr sz="1900" b="0">
                <a:solidFill>
                  <a:srgbClr val="1E2340"/>
                </a:solidFill>
                <a:latin typeface="Arial"/>
              </a:rPr>
              <a:t>the listed names as whole words; lookarounds block partial matches.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B7F4B"/>
                </a:solidFill>
                <a:latin typeface="Arial"/>
              </a:rPr>
              <a:t>✓ </a:t>
            </a:r>
            <a:r>
              <a:rPr sz="1900" b="0">
                <a:solidFill>
                  <a:srgbClr val="1E2340"/>
                </a:solidFill>
                <a:latin typeface="Arial"/>
              </a:rPr>
              <a:t>“JS, React.js” → </a:t>
            </a:r>
            <a:r>
              <a:rPr sz="1900" b="1">
                <a:solidFill>
                  <a:srgbClr val="1E2340"/>
                </a:solidFill>
                <a:latin typeface="Courier New"/>
              </a:rPr>
              <a:t>JS</a:t>
            </a:r>
            <a:r>
              <a:rPr sz="1900" b="0">
                <a:solidFill>
                  <a:srgbClr val="1E2340"/>
                </a:solidFill>
                <a:latin typeface="Arial"/>
              </a:rPr>
              <a:t> kept literally with offsets [86, 88)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C0392B"/>
                </a:solidFill>
                <a:latin typeface="Arial"/>
              </a:rPr>
              <a:t>✗ </a:t>
            </a:r>
            <a:r>
              <a:rPr sz="1900" b="0">
                <a:solidFill>
                  <a:srgbClr val="1E2340"/>
                </a:solidFill>
                <a:latin typeface="Arial"/>
              </a:rPr>
              <a:t>“JSON”, “NodeJS” do not yield </a:t>
            </a:r>
            <a:r>
              <a:rPr sz="1900" b="1">
                <a:solidFill>
                  <a:srgbClr val="1E2340"/>
                </a:solidFill>
                <a:latin typeface="Courier New"/>
              </a:rPr>
              <a:t>JS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34855" y="179862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4646D8"/>
                </a:solidFill>
                <a:latin typeface="Arial"/>
              </a:rPr>
              <a:t>T1 · clean</a:t>
            </a:r>
          </a:p>
        </p:txBody>
      </p:sp>
      <p:sp>
        <p:nvSpPr>
          <p:cNvPr id="93" name="Oval 92"/>
          <p:cNvSpPr/>
          <p:nvPr/>
        </p:nvSpPr>
        <p:spPr>
          <a:xfrm>
            <a:off x="9628632" y="18461736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4646D8"/>
                </a:solidFill>
                <a:latin typeface="Arial"/>
              </a:rPr>
              <a:t>q0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244584" y="18745200"/>
            <a:ext cx="384048" cy="0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ig2 T1 loops"/>
          <p:cNvSpPr txBox="1"/>
          <p:nvPr/>
        </p:nvSpPr>
        <p:spPr>
          <a:xfrm>
            <a:off x="10323576" y="18443448"/>
            <a:ext cx="32918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E2340"/>
                </a:solidFill>
                <a:latin typeface="Arial"/>
              </a:rPr>
              <a:t>a/A · A/A · +/+ · #/#</a:t>
            </a:r>
          </a:p>
          <a:p>
            <a:pPr algn="l"/>
            <a:r>
              <a:rPr sz="1500" b="0">
                <a:solidFill>
                  <a:srgbClr val="1E2340"/>
                </a:solidFill>
                <a:latin typeface="Arial"/>
              </a:rPr>
              <a:t>␣/ε · ./ε · -/ε · _/ε  (self-loops)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3569696" y="18745200"/>
            <a:ext cx="1280159" cy="0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3752576" y="18379439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⊣/⊣</a:t>
            </a:r>
          </a:p>
        </p:txBody>
      </p:sp>
      <p:sp>
        <p:nvSpPr>
          <p:cNvPr id="98" name="Oval 97"/>
          <p:cNvSpPr/>
          <p:nvPr/>
        </p:nvSpPr>
        <p:spPr>
          <a:xfrm>
            <a:off x="14932152" y="18461736"/>
            <a:ext cx="566928" cy="566928"/>
          </a:xfrm>
          <a:prstGeom prst="ellipse">
            <a:avLst/>
          </a:prstGeom>
          <a:solidFill>
            <a:srgbClr val="4646D8"/>
          </a:solidFill>
          <a:ln w="44450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qf</a:t>
            </a:r>
          </a:p>
        </p:txBody>
      </p:sp>
      <p:sp>
        <p:nvSpPr>
          <p:cNvPr id="99" name="Oval 98"/>
          <p:cNvSpPr/>
          <p:nvPr/>
        </p:nvSpPr>
        <p:spPr>
          <a:xfrm>
            <a:off x="14868144" y="18397728"/>
            <a:ext cx="694944" cy="694944"/>
          </a:xfrm>
          <a:prstGeom prst="ellipse">
            <a:avLst/>
          </a:prstGeom>
          <a:noFill/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2929615" y="1798624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0">
                <a:solidFill>
                  <a:srgbClr val="5A5F78"/>
                </a:solidFill>
                <a:latin typeface="Courier New"/>
              </a:rPr>
              <a:t>“Node.js” → “NODEJS”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34855" y="192481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4646D8"/>
                </a:solidFill>
                <a:latin typeface="Arial"/>
              </a:rPr>
              <a:t>T2 · alias trie</a:t>
            </a:r>
          </a:p>
        </p:txBody>
      </p:sp>
      <p:sp>
        <p:nvSpPr>
          <p:cNvPr id="102" name="Oval 101"/>
          <p:cNvSpPr/>
          <p:nvPr/>
        </p:nvSpPr>
        <p:spPr>
          <a:xfrm>
            <a:off x="9628632" y="19833336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4646D8"/>
                </a:solidFill>
                <a:latin typeface="Arial"/>
              </a:rPr>
              <a:t>q0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9244584" y="20116800"/>
            <a:ext cx="384048" cy="0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195559" y="20116800"/>
            <a:ext cx="768096" cy="0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0213847" y="19760184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J/ε</a:t>
            </a:r>
          </a:p>
        </p:txBody>
      </p:sp>
      <p:sp>
        <p:nvSpPr>
          <p:cNvPr id="106" name="Oval 105"/>
          <p:cNvSpPr/>
          <p:nvPr/>
        </p:nvSpPr>
        <p:spPr>
          <a:xfrm>
            <a:off x="10954511" y="19833336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4646D8"/>
                </a:solidFill>
                <a:latin typeface="Arial"/>
              </a:rPr>
              <a:t>J</a:t>
            </a:r>
          </a:p>
        </p:txBody>
      </p:sp>
      <p:cxnSp>
        <p:nvCxnSpPr>
          <p:cNvPr id="107" name="Connector 106"/>
          <p:cNvCxnSpPr/>
          <p:nvPr/>
        </p:nvCxnSpPr>
        <p:spPr>
          <a:xfrm flipV="1">
            <a:off x="11512296" y="19677888"/>
            <a:ext cx="868680" cy="347472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1420855" y="19458431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S/ε</a:t>
            </a:r>
          </a:p>
        </p:txBody>
      </p:sp>
      <p:sp>
        <p:nvSpPr>
          <p:cNvPr id="109" name="Oval 108"/>
          <p:cNvSpPr/>
          <p:nvPr/>
        </p:nvSpPr>
        <p:spPr>
          <a:xfrm>
            <a:off x="12371832" y="19330416"/>
            <a:ext cx="566928" cy="566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4646D8"/>
                </a:solidFill>
                <a:latin typeface="Arial"/>
              </a:rPr>
              <a:t>JS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1512296" y="20208240"/>
            <a:ext cx="868680" cy="347472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1420855" y="2046427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A/ε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2380976" y="20391120"/>
            <a:ext cx="1234440" cy="4572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4646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4646D8"/>
                </a:solidFill>
                <a:latin typeface="Arial"/>
              </a:rPr>
              <a:t>JA…JAVA</a:t>
            </a:r>
          </a:p>
        </p:txBody>
      </p:sp>
      <p:sp>
        <p:nvSpPr>
          <p:cNvPr id="113" name="Oval 112"/>
          <p:cNvSpPr/>
          <p:nvPr/>
        </p:nvSpPr>
        <p:spPr>
          <a:xfrm>
            <a:off x="15069312" y="19833336"/>
            <a:ext cx="566928" cy="566928"/>
          </a:xfrm>
          <a:prstGeom prst="ellipse">
            <a:avLst/>
          </a:prstGeom>
          <a:solidFill>
            <a:srgbClr val="4646D8"/>
          </a:solidFill>
          <a:ln w="44450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qf</a:t>
            </a:r>
          </a:p>
        </p:txBody>
      </p:sp>
      <p:sp>
        <p:nvSpPr>
          <p:cNvPr id="114" name="Oval 113"/>
          <p:cNvSpPr/>
          <p:nvPr/>
        </p:nvSpPr>
        <p:spPr>
          <a:xfrm>
            <a:off x="15005304" y="19769328"/>
            <a:ext cx="694944" cy="694944"/>
          </a:xfrm>
          <a:prstGeom prst="ellipse">
            <a:avLst/>
          </a:prstGeom>
          <a:noFill/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5" name="Connector 114"/>
          <p:cNvCxnSpPr/>
          <p:nvPr/>
        </p:nvCxnSpPr>
        <p:spPr>
          <a:xfrm>
            <a:off x="12938759" y="19659600"/>
            <a:ext cx="2066545" cy="347472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13203936" y="19394423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4646D8"/>
                </a:solidFill>
                <a:latin typeface="Arial"/>
              </a:rPr>
              <a:t>⊣/JAVASCRIPT</a:t>
            </a:r>
          </a:p>
        </p:txBody>
      </p:sp>
      <p:cxnSp>
        <p:nvCxnSpPr>
          <p:cNvPr id="117" name="Connector 116"/>
          <p:cNvCxnSpPr/>
          <p:nvPr/>
        </p:nvCxnSpPr>
        <p:spPr>
          <a:xfrm flipV="1">
            <a:off x="13615415" y="20226528"/>
            <a:ext cx="1389889" cy="347472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13661136" y="2052828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4646D8"/>
                </a:solidFill>
                <a:latin typeface="Arial"/>
              </a:rPr>
              <a:t>⊣/JAVA</a:t>
            </a:r>
          </a:p>
        </p:txBody>
      </p:sp>
      <p:sp>
        <p:nvSpPr>
          <p:cNvPr id="119" name="Oval 118"/>
          <p:cNvSpPr/>
          <p:nvPr/>
        </p:nvSpPr>
        <p:spPr>
          <a:xfrm>
            <a:off x="9381744" y="24021288"/>
            <a:ext cx="603504" cy="60350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4646D8"/>
                </a:solidFill>
                <a:latin typeface="Arial"/>
              </a:rPr>
              <a:t>q0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8997696" y="24323039"/>
            <a:ext cx="384048" cy="0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10625328" y="24021288"/>
            <a:ext cx="603504" cy="60350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4646D8"/>
                </a:solidFill>
                <a:latin typeface="Arial"/>
              </a:rPr>
              <a:t>q_L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61319" y="2470708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↺ L</a:t>
            </a:r>
          </a:p>
        </p:txBody>
      </p:sp>
      <p:sp>
        <p:nvSpPr>
          <p:cNvPr id="123" name="Oval 122"/>
          <p:cNvSpPr/>
          <p:nvPr/>
        </p:nvSpPr>
        <p:spPr>
          <a:xfrm>
            <a:off x="11868912" y="24021288"/>
            <a:ext cx="603504" cy="60350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4646D8"/>
                </a:solidFill>
                <a:latin typeface="Arial"/>
              </a:rPr>
              <a:t>q_F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804904" y="2470708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↺ F</a:t>
            </a:r>
          </a:p>
        </p:txBody>
      </p:sp>
      <p:sp>
        <p:nvSpPr>
          <p:cNvPr id="125" name="Oval 124"/>
          <p:cNvSpPr/>
          <p:nvPr/>
        </p:nvSpPr>
        <p:spPr>
          <a:xfrm>
            <a:off x="13112496" y="24021288"/>
            <a:ext cx="603504" cy="60350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4646D8"/>
                </a:solidFill>
                <a:latin typeface="Arial"/>
              </a:rPr>
              <a:t>q_B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048488" y="2470708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↺ B</a:t>
            </a:r>
          </a:p>
        </p:txBody>
      </p:sp>
      <p:sp>
        <p:nvSpPr>
          <p:cNvPr id="127" name="Oval 126"/>
          <p:cNvSpPr/>
          <p:nvPr/>
        </p:nvSpPr>
        <p:spPr>
          <a:xfrm>
            <a:off x="14356080" y="24021288"/>
            <a:ext cx="603504" cy="60350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4646D8"/>
                </a:solidFill>
                <a:latin typeface="Arial"/>
              </a:rPr>
              <a:t>q_D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4292072" y="2470708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↺ D</a:t>
            </a:r>
          </a:p>
        </p:txBody>
      </p:sp>
      <p:sp>
        <p:nvSpPr>
          <p:cNvPr id="129" name="Oval 128"/>
          <p:cNvSpPr/>
          <p:nvPr/>
        </p:nvSpPr>
        <p:spPr>
          <a:xfrm>
            <a:off x="15599664" y="24021288"/>
            <a:ext cx="603504" cy="603504"/>
          </a:xfrm>
          <a:prstGeom prst="ellipse">
            <a:avLst/>
          </a:prstGeom>
          <a:solidFill>
            <a:srgbClr val="4646D8"/>
          </a:solidFill>
          <a:ln w="44450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q_V</a:t>
            </a:r>
          </a:p>
        </p:txBody>
      </p:sp>
      <p:sp>
        <p:nvSpPr>
          <p:cNvPr id="130" name="Oval 129"/>
          <p:cNvSpPr/>
          <p:nvPr/>
        </p:nvSpPr>
        <p:spPr>
          <a:xfrm>
            <a:off x="15535656" y="23957280"/>
            <a:ext cx="731520" cy="731520"/>
          </a:xfrm>
          <a:prstGeom prst="ellipse">
            <a:avLst/>
          </a:prstGeom>
          <a:noFill/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5535656" y="24707088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↺ V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0003536" y="24323039"/>
            <a:ext cx="603504" cy="0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10076688" y="2398471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L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1247119" y="24323039"/>
            <a:ext cx="603505" cy="0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1320272" y="2398471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F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12490704" y="24323039"/>
            <a:ext cx="603504" cy="0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2563856" y="2398471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B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3734288" y="24323039"/>
            <a:ext cx="603504" cy="0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3807440" y="2398471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D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4977872" y="24323039"/>
            <a:ext cx="603504" cy="0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15051024" y="2398471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V</a:t>
            </a:r>
          </a:p>
        </p:txBody>
      </p:sp>
      <p:sp>
        <p:nvSpPr>
          <p:cNvPr id="142" name="Oval 141"/>
          <p:cNvSpPr/>
          <p:nvPr/>
        </p:nvSpPr>
        <p:spPr>
          <a:xfrm>
            <a:off x="13734288" y="23015448"/>
            <a:ext cx="603504" cy="60350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64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4646D8"/>
                </a:solidFill>
                <a:latin typeface="Arial"/>
              </a:rPr>
              <a:t>q_A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383512" y="23161752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1E2340"/>
                </a:solidFill>
                <a:latin typeface="Arial"/>
              </a:rPr>
              <a:t>↺ A</a:t>
            </a:r>
          </a:p>
        </p:txBody>
      </p:sp>
      <p:cxnSp>
        <p:nvCxnSpPr>
          <p:cNvPr id="144" name="Connector 143"/>
          <p:cNvCxnSpPr/>
          <p:nvPr/>
        </p:nvCxnSpPr>
        <p:spPr>
          <a:xfrm flipV="1">
            <a:off x="13597128" y="23536656"/>
            <a:ext cx="219456" cy="512063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13231368" y="23573231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A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14255496" y="23536656"/>
            <a:ext cx="219456" cy="512063"/>
          </a:xfrm>
          <a:prstGeom prst="line">
            <a:avLst/>
          </a:prstGeom>
          <a:ln w="28575">
            <a:solidFill>
              <a:srgbClr val="4646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14474952" y="23573231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1E2340"/>
                </a:solidFill>
                <a:latin typeface="Arial"/>
              </a:rPr>
              <a:t>D</a:t>
            </a:r>
          </a:p>
        </p:txBody>
      </p:sp>
      <p:sp>
        <p:nvSpPr>
          <p:cNvPr id="148" name="Fig3 legend"/>
          <p:cNvSpPr txBox="1"/>
          <p:nvPr/>
        </p:nvSpPr>
        <p:spPr>
          <a:xfrm>
            <a:off x="9180576" y="25146000"/>
            <a:ext cx="684885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5A5F78"/>
                </a:solidFill>
                <a:latin typeface="Arial"/>
              </a:rPr>
              <a:t>L = JS|TS · F = React|Angular|Vue · B = backend · A = REST_API</a:t>
            </a:r>
          </a:p>
          <a:p>
            <a:pPr algn="ctr"/>
            <a:r>
              <a:rPr sz="1500" b="0">
                <a:solidFill>
                  <a:srgbClr val="5A5F78"/>
                </a:solidFill>
                <a:latin typeface="Arial"/>
              </a:rPr>
              <a:t>D = database · V = GIT · any other symbol → q_dead (δ is total)</a:t>
            </a:r>
          </a:p>
        </p:txBody>
      </p:sp>
      <p:sp>
        <p:nvSpPr>
          <p:cNvPr id="149" name="Fig4 grammar"/>
          <p:cNvSpPr txBox="1"/>
          <p:nvPr/>
        </p:nvSpPr>
        <p:spPr>
          <a:xfrm>
            <a:off x="9180576" y="27934920"/>
            <a:ext cx="6848856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4646D8"/>
                </a:solidFill>
                <a:latin typeface="Courier New"/>
              </a:rPr>
              <a:t>CandidateProfile</a:t>
            </a:r>
            <a:r>
              <a:rPr sz="1600" b="0">
                <a:solidFill>
                  <a:srgbClr val="1E2340"/>
                </a:solidFill>
                <a:latin typeface="Courier New"/>
              </a:rPr>
              <a:t>: 'candidate' '{'</a:t>
            </a:r>
          </a:p>
          <a:p>
            <a:pPr algn="l"/>
            <a:r>
              <a:rPr sz="1600" b="0">
                <a:solidFill>
                  <a:srgbClr val="1E2340"/>
                </a:solidFill>
                <a:latin typeface="Courier New"/>
              </a:rPr>
              <a:t>  personal=PersonalInfo  contact=ContactInfo?</a:t>
            </a:r>
          </a:p>
          <a:p>
            <a:pPr algn="l"/>
            <a:r>
              <a:rPr sz="1600" b="0">
                <a:solidFill>
                  <a:srgbClr val="1E2340"/>
                </a:solidFill>
                <a:latin typeface="Courier New"/>
              </a:rPr>
              <a:t>  education=Education?  experience=Experience?</a:t>
            </a:r>
          </a:p>
          <a:p>
            <a:pPr algn="l"/>
            <a:r>
              <a:rPr sz="1600" b="0">
                <a:solidFill>
                  <a:srgbClr val="1E2340"/>
                </a:solidFill>
                <a:latin typeface="Courier New"/>
              </a:rPr>
              <a:t>  skills=Skills  classification=Classification '}';</a:t>
            </a:r>
          </a:p>
          <a:p>
            <a:pPr algn="l"/>
            <a:r>
              <a:rPr sz="1600" b="1">
                <a:solidFill>
                  <a:srgbClr val="4646D8"/>
                </a:solidFill>
                <a:latin typeface="Courier New"/>
              </a:rPr>
              <a:t>SkillGroup</a:t>
            </a:r>
            <a:r>
              <a:rPr sz="1600" b="0">
                <a:solidFill>
                  <a:srgbClr val="1E2340"/>
                </a:solidFill>
                <a:latin typeface="Courier New"/>
              </a:rPr>
              <a:t>: category=SkillCategory</a:t>
            </a:r>
          </a:p>
          <a:p>
            <a:pPr algn="l"/>
            <a:r>
              <a:rPr sz="1600" b="0">
                <a:solidFill>
                  <a:srgbClr val="1E2340"/>
                </a:solidFill>
                <a:latin typeface="Courier New"/>
              </a:rPr>
              <a:t>  ':' tokens+=Token[','] ';';</a:t>
            </a:r>
          </a:p>
          <a:p>
            <a:pPr algn="l"/>
            <a:r>
              <a:rPr sz="1600" b="1">
                <a:solidFill>
                  <a:srgbClr val="4646D8"/>
                </a:solidFill>
                <a:latin typeface="Courier New"/>
              </a:rPr>
              <a:t>AcceptedProfile</a:t>
            </a:r>
            <a:r>
              <a:rPr sz="1600" b="0">
                <a:solidFill>
                  <a:srgbClr val="1E2340"/>
                </a:solidFill>
                <a:latin typeface="Courier New"/>
              </a:rPr>
              <a:t>: 'accepted' profile=ProfileName</a:t>
            </a:r>
          </a:p>
          <a:p>
            <a:pPr algn="l"/>
            <a:r>
              <a:rPr sz="1600" b="0">
                <a:solidFill>
                  <a:srgbClr val="1E2340"/>
                </a:solidFill>
                <a:latin typeface="Courier New"/>
              </a:rPr>
              <a:t>  '{' 'sequence' ':' sequence+=Token[','] ';' '}';</a:t>
            </a:r>
          </a:p>
          <a:p>
            <a:pPr algn="l"/>
            <a:r>
              <a:rPr sz="1600" b="1">
                <a:solidFill>
                  <a:srgbClr val="4646D8"/>
                </a:solidFill>
                <a:latin typeface="Courier New"/>
              </a:rPr>
              <a:t>Token</a:t>
            </a:r>
            <a:r>
              <a:rPr sz="1600" b="0">
                <a:solidFill>
                  <a:srgbClr val="1E2340"/>
                </a:solidFill>
                <a:latin typeface="Courier New"/>
              </a:rPr>
              <a:t>: /[A-Z][A-Z0-9]*(_[A-Z0-9]+)*/;</a:t>
            </a:r>
          </a:p>
        </p:txBody>
      </p:sp>
      <p:sp>
        <p:nvSpPr>
          <p:cNvPr id="42" name="Results text"/>
          <p:cNvSpPr txBox="1"/>
          <p:nvPr/>
        </p:nvSpPr>
        <p:spPr>
          <a:xfrm>
            <a:off x="16980408" y="12115800"/>
            <a:ext cx="73060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 unit tests pass; 94 regex cases.</a:t>
            </a:r>
            <a:endParaRPr lang="en-US" sz="3200" dirty="0"/>
          </a:p>
          <a:p>
            <a:pPr marL="381000" indent="-381000" algn="l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rgbClr val="1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assignment résumé is accepted only by its own profile.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1018</Words>
  <Application>Microsoft Office PowerPoint</Application>
  <PresentationFormat>Personalizado</PresentationFormat>
  <Paragraphs>149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Courier New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ResumeLens Poster Template</dc:title>
  <dc:subject>PptxGenJS Presentation</dc:subject>
  <dc:creator>PptxGenJS</dc:creator>
  <cp:lastModifiedBy>Juan camilo Pelaez marulanda</cp:lastModifiedBy>
  <cp:revision>2</cp:revision>
  <dcterms:created xsi:type="dcterms:W3CDTF">2026-10-12T18:52:54Z</dcterms:created>
  <dcterms:modified xsi:type="dcterms:W3CDTF">2026-10-13T01:27:46Z</dcterms:modified>
</cp:coreProperties>
</file>